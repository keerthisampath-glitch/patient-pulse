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12191695" cy="32004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400" b="1">
                <a:solidFill>
                  <a:srgbClr val="FFFFFF"/>
                </a:solidFill>
                <a:latin typeface="Segoe UI"/>
              </a:defRPr>
            </a:pPr>
            <a:r>
              <a:t>PatientPulse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00B8D9"/>
                </a:solidFill>
                <a:latin typeface="Segoe UI"/>
              </a:defRPr>
            </a:pPr>
            <a:r>
              <a:t>Multimodal Medical Report &amp; Diagnostic Intelligence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77295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Segoe UI"/>
              </a:defRPr>
            </a:pPr>
            <a:r>
              <a:t>Project Overview &amp; Problem Statement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645920"/>
            <a:ext cx="47548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4389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12121"/>
                </a:solidFill>
                <a:latin typeface="Segoe UI"/>
              </a:defRPr>
            </a:pPr>
            <a: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377440"/>
            <a:ext cx="4389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  <a:latin typeface="Segoe UI"/>
              </a:defRPr>
            </a:pPr>
            <a:r>
              <a:t>• Medical jargon isolates non-technical patients.</a:t>
            </a: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  <a:latin typeface="Segoe UI"/>
              </a:defRPr>
            </a:pPr>
            <a:r>
              <a:t>• Complex clinical data is hard to interpret without domain expertise.</a:t>
            </a: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  <a:latin typeface="Segoe UI"/>
              </a:defRPr>
            </a:pPr>
            <a:r>
              <a:t>• Patients lack personalized, accessible health intelligence.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029200" cy="4114800"/>
          </a:xfrm>
          <a:prstGeom prst="roundRect">
            <a:avLst/>
          </a:prstGeom>
          <a:solidFill>
            <a:srgbClr val="00B8D9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The Solution: PatientPulse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377440"/>
            <a:ext cx="4663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• Visual Pathology Classification &amp; Localization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• Cursive Handwriting OCR for Prescriptions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• Biomarker Named Entity Recognition (NER)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• Grounded RAG with exact source citations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77295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Segoe UI"/>
              </a:defRPr>
            </a:pPr>
            <a:r>
              <a:t>Model 1: DenseNet-121 (Vision Classification)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645920"/>
            <a:ext cx="10332720" cy="1371600"/>
          </a:xfrm>
          <a:prstGeom prst="roundRect">
            <a:avLst/>
          </a:prstGeom>
          <a:solidFill>
            <a:srgbClr val="00B8D9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9966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Purpose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37744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• Classifies complex Multi-Anatomy X-Rays to answer: 'What is in this image?'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• Utilized for initial screening and pathology identification.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291840"/>
            <a:ext cx="493776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4747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12121"/>
                </a:solidFill>
                <a:latin typeface="Segoe UI"/>
              </a:defRPr>
            </a:pPr>
            <a:r>
              <a:t>Technical Details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023360"/>
            <a:ext cx="4572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  <a:latin typeface="Segoe UI"/>
              </a:defRPr>
            </a:pPr>
            <a:r>
              <a:t>• Architecture: Dense Convolutional Network (DenseNet-121).</a:t>
            </a: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  <a:latin typeface="Segoe UI"/>
              </a:defRPr>
            </a:pPr>
            <a:r>
              <a:t>• Features dense connections to improve feature reuse and reduce parameters.</a:t>
            </a: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  <a:latin typeface="Segoe UI"/>
              </a:defRPr>
            </a:pPr>
            <a:r>
              <a:t>• Optimized for high-resolution medical imagery.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3291840"/>
            <a:ext cx="493776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34747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12121"/>
                </a:solidFill>
                <a:latin typeface="Segoe UI"/>
              </a:defRPr>
            </a:pPr>
            <a:r>
              <a:t>Capabilities &amp; Training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4023360"/>
            <a:ext cx="4572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  <a:latin typeface="Segoe UI"/>
              </a:defRPr>
            </a:pPr>
            <a:r>
              <a:t>• Classifies 18 distinct thoracic pathologies.</a:t>
            </a: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  <a:latin typeface="Segoe UI"/>
              </a:defRPr>
            </a:pPr>
            <a:r>
              <a:t>• Trained on massive real-world datasets (NIH ChestX-ray14, CheXpert).</a:t>
            </a: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  <a:latin typeface="Segoe UI"/>
              </a:defRPr>
            </a:pPr>
            <a:r>
              <a:t>• Achieves clinical-grade accuracy on baseline conditions.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77295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Segoe UI"/>
              </a:defRPr>
            </a:pPr>
            <a:r>
              <a:t>Model 2: Pathology Object Detection (Localization)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645920"/>
            <a:ext cx="10332720" cy="1371600"/>
          </a:xfrm>
          <a:prstGeom prst="roundRect">
            <a:avLst/>
          </a:prstGeom>
          <a:solidFill>
            <a:srgbClr val="00B8D9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9966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Purpose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37744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• Locates structural abnormalities in X-Rays to answer: 'Where is it?'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• Highlights areas of interest directly on the medical scan for visual verification.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291840"/>
            <a:ext cx="493776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4747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12121"/>
                </a:solidFill>
                <a:latin typeface="Segoe UI"/>
              </a:defRPr>
            </a:pPr>
            <a:r>
              <a:t>Technical Details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023360"/>
            <a:ext cx="4572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  <a:latin typeface="Segoe UI"/>
              </a:defRPr>
            </a:pPr>
            <a:r>
              <a:t>• Outputs native bounding boxes [x_min, y_min, x_max, y_max].</a:t>
            </a: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  <a:latin typeface="Segoe UI"/>
              </a:defRPr>
            </a:pPr>
            <a:r>
              <a:t>• Integrated natively into the Universal X-Ray Viewer.</a:t>
            </a: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  <a:latin typeface="Segoe UI"/>
              </a:defRPr>
            </a:pPr>
            <a:r>
              <a:t>• Ensures models aren't just 'guessing' by proving visual context.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3291840"/>
            <a:ext cx="493776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34747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12121"/>
                </a:solidFill>
                <a:latin typeface="Segoe UI"/>
              </a:defRPr>
            </a:pPr>
            <a:r>
              <a:t>Capabilities &amp; Training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4023360"/>
            <a:ext cx="4572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  <a:latin typeface="Segoe UI"/>
              </a:defRPr>
            </a:pPr>
            <a:r>
              <a:t>• Specialized in detecting fractures and localized lesions.</a:t>
            </a: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  <a:latin typeface="Segoe UI"/>
              </a:defRPr>
            </a:pPr>
            <a:r>
              <a:t>• Leverages bounding box annotated datasets like GRAZPEDWRI-DX.</a:t>
            </a: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  <a:latin typeface="Segoe UI"/>
              </a:defRPr>
            </a:pPr>
            <a:r>
              <a:t>• High Intersection over Union (IoU) on complex scans.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77295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Segoe UI"/>
              </a:defRPr>
            </a:pPr>
            <a:r>
              <a:t>Model 3: Microsoft TrOCR (Handwriting Parsing)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645920"/>
            <a:ext cx="10332720" cy="1371600"/>
          </a:xfrm>
          <a:prstGeom prst="roundRect">
            <a:avLst/>
          </a:prstGeom>
          <a:solidFill>
            <a:srgbClr val="00B8D9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9966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Purpose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37744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• Digitizes and deciphers doctor handwritten prescriptions and notes.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• Bridges the gap between analog clinical writing and digital platforms.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291840"/>
            <a:ext cx="493776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4747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12121"/>
                </a:solidFill>
                <a:latin typeface="Segoe UI"/>
              </a:defRPr>
            </a:pPr>
            <a:r>
              <a:t>Technical Details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023360"/>
            <a:ext cx="4572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  <a:latin typeface="Segoe UI"/>
              </a:defRPr>
            </a:pPr>
            <a:r>
              <a:t>• TrOCR (Transformer-based Optical Character Recognition).</a:t>
            </a: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  <a:latin typeface="Segoe UI"/>
              </a:defRPr>
            </a:pPr>
            <a:r>
              <a:t>• Coupled with PyMuPDF for document layout parsing.</a:t>
            </a: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  <a:latin typeface="Segoe UI"/>
              </a:defRPr>
            </a:pPr>
            <a:r>
              <a:t>• Utilizes &lt;80% confidence safety guardrails to prevent misreads.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3291840"/>
            <a:ext cx="493776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34747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12121"/>
                </a:solidFill>
                <a:latin typeface="Segoe UI"/>
              </a:defRPr>
            </a:pPr>
            <a:r>
              <a:t>Capabilities &amp; Training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4023360"/>
            <a:ext cx="4572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  <a:latin typeface="Segoe UI"/>
              </a:defRPr>
            </a:pPr>
            <a:r>
              <a:t>• Trained extensively on IAM Handwriting Database.</a:t>
            </a: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  <a:latin typeface="Segoe UI"/>
              </a:defRPr>
            </a:pPr>
            <a:r>
              <a:t>• Highly resilient to cursive and traditionally illegible doctor handwriting.</a:t>
            </a: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  <a:latin typeface="Segoe UI"/>
              </a:defRPr>
            </a:pPr>
            <a:r>
              <a:t>• Feeds structured text into downstream RAG pipelines.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77295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Segoe UI"/>
              </a:defRPr>
            </a:pPr>
            <a:r>
              <a:t>Model 4: Bio_ClinicalBERT (Medical NER)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645920"/>
            <a:ext cx="10332720" cy="1371600"/>
          </a:xfrm>
          <a:prstGeom prst="roundRect">
            <a:avLst/>
          </a:prstGeom>
          <a:solidFill>
            <a:srgbClr val="00B8D9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9966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Purpose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37744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• Extracts and normalizes critical clinical entities from unstructured text.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• Processes lab reports, test results, and clinical summaries.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291840"/>
            <a:ext cx="493776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4747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12121"/>
                </a:solidFill>
                <a:latin typeface="Segoe UI"/>
              </a:defRPr>
            </a:pPr>
            <a:r>
              <a:t>Technical Details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023360"/>
            <a:ext cx="4572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  <a:latin typeface="Segoe UI"/>
              </a:defRPr>
            </a:pPr>
            <a:r>
              <a:t>• Architecture: BERT adapted specifically for clinical/medical text.</a:t>
            </a: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  <a:latin typeface="Segoe UI"/>
              </a:defRPr>
            </a:pPr>
            <a:r>
              <a:t>• Named Entity Recognition (NER) fine-tuned for healthcare.</a:t>
            </a: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  <a:latin typeface="Segoe UI"/>
              </a:defRPr>
            </a:pPr>
            <a:r>
              <a:t>• Understands complex medical jargon and abbreviations.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3291840"/>
            <a:ext cx="493776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34747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12121"/>
                </a:solidFill>
                <a:latin typeface="Segoe UI"/>
              </a:defRPr>
            </a:pPr>
            <a:r>
              <a:t>Capabilities &amp; Training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4023360"/>
            <a:ext cx="4572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  <a:latin typeface="Segoe UI"/>
              </a:defRPr>
            </a:pPr>
            <a:r>
              <a:t>• Extracts test names, values, units, and reference ranges.</a:t>
            </a: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  <a:latin typeface="Segoe UI"/>
              </a:defRPr>
            </a:pPr>
            <a:r>
              <a:t>• Automatically flags statuses as NORMAL, HIGH, LOW, or CRITICAL.</a:t>
            </a: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  <a:latin typeface="Segoe UI"/>
              </a:defRPr>
            </a:pPr>
            <a:r>
              <a:t>• Trained on large-scale clinical text (PubMed, MIMIC).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77295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Segoe UI"/>
              </a:defRPr>
            </a:pPr>
            <a:r>
              <a:t>Data &amp; Knowledge Sources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645920"/>
            <a:ext cx="9418320" cy="1097280"/>
          </a:xfrm>
          <a:prstGeom prst="roundRect">
            <a:avLst/>
          </a:prstGeom>
          <a:solidFill>
            <a:srgbClr val="00B8D9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54480" y="1828800"/>
            <a:ext cx="9052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Scale &amp; Legitimacy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377440"/>
            <a:ext cx="9052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• Trained on over 870,000+ real clinical scans. No synthetic data default.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3017520"/>
            <a:ext cx="438912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54480" y="3200400"/>
            <a:ext cx="4023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12121"/>
                </a:solidFill>
                <a:latin typeface="Segoe UI"/>
              </a:defRPr>
            </a:pPr>
            <a:r>
              <a:t>Dataset Repositories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3749040"/>
            <a:ext cx="4023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  <a:latin typeface="Segoe UI"/>
              </a:defRPr>
            </a:pPr>
            <a:r>
              <a:t>• NIH ChestX-ray14</a:t>
            </a: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  <a:latin typeface="Segoe UI"/>
              </a:defRPr>
            </a:pPr>
            <a:r>
              <a:t>• Stanford CheXpert</a:t>
            </a: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  <a:latin typeface="Segoe UI"/>
              </a:defRPr>
            </a:pPr>
            <a:r>
              <a:t>• Stanford MURA</a:t>
            </a: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  <a:latin typeface="Segoe UI"/>
              </a:defRPr>
            </a:pPr>
            <a:r>
              <a:t>• GRAZPEDWRI-DX</a:t>
            </a: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  <a:latin typeface="Segoe UI"/>
              </a:defRPr>
            </a:pPr>
            <a:r>
              <a:t>• IAM Handwriting Database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3017520"/>
            <a:ext cx="438912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3200400"/>
            <a:ext cx="4023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12121"/>
                </a:solidFill>
                <a:latin typeface="Segoe UI"/>
              </a:defRPr>
            </a:pPr>
            <a:r>
              <a:t>Live APIs &amp; Literature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3749040"/>
            <a:ext cx="4023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  <a:latin typeface="Segoe UI"/>
              </a:defRPr>
            </a:pPr>
            <a:r>
              <a:t>• PubMed/MIMIC for deep knowledge</a:t>
            </a: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  <a:latin typeface="Segoe UI"/>
              </a:defRPr>
            </a:pPr>
            <a:r>
              <a:t>• Live NIH MedlinePlus APIs</a:t>
            </a: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  <a:latin typeface="Segoe UI"/>
              </a:defRPr>
            </a:pPr>
            <a:r>
              <a:t>• openFDA database integration</a:t>
            </a: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  <a:latin typeface="Segoe UI"/>
              </a:defRPr>
            </a:pPr>
            <a:r>
              <a:t>• Ensures zero-hallucination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77295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Segoe UI"/>
              </a:defRPr>
            </a:pPr>
            <a:r>
              <a:t>GenAI &amp; Autonomous Tool-Calling Agent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645920"/>
            <a:ext cx="47548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4389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12121"/>
                </a:solidFill>
                <a:latin typeface="Segoe UI"/>
              </a:defRPr>
            </a:pPr>
            <a:r>
              <a:t>Grounded RAG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377440"/>
            <a:ext cx="4389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  <a:latin typeface="Segoe UI"/>
              </a:defRPr>
            </a:pPr>
            <a:r>
              <a:t>• Fetches exact context from official sources</a:t>
            </a: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  <a:latin typeface="Segoe UI"/>
              </a:defRPr>
            </a:pPr>
            <a:r>
              <a:t>• NIH MedlinePlus (5,000+ lab terms)</a:t>
            </a: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  <a:latin typeface="Segoe UI"/>
              </a:defRPr>
            </a:pPr>
            <a:r>
              <a:t>• openFDA (100,000+ drug labels)</a:t>
            </a: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  <a:latin typeface="Segoe UI"/>
              </a:defRPr>
            </a:pPr>
            <a:r>
              <a:t>• Provides citations and source URLs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029200" cy="4114800"/>
          </a:xfrm>
          <a:prstGeom prst="roundRect">
            <a:avLst/>
          </a:prstGeom>
          <a:solidFill>
            <a:srgbClr val="00B8D9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24/7 AI Health Companion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377440"/>
            <a:ext cx="4663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• Autonomous workflow engine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• Tool: check_drug_safety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• Tool: explain_lab_biomarker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• Tool: triage_xray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• Tool: decipher_prescription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77295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Segoe UI"/>
              </a:defRPr>
            </a:pPr>
            <a:r>
              <a:t>System Integration &amp; Impact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645920"/>
            <a:ext cx="438912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54480" y="1828800"/>
            <a:ext cx="4023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12121"/>
                </a:solidFill>
                <a:latin typeface="Segoe UI"/>
              </a:defRPr>
            </a:pPr>
            <a:r>
              <a:t>Robust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377440"/>
            <a:ext cx="40233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  <a:latin typeface="Segoe UI"/>
              </a:defRPr>
            </a:pPr>
            <a:r>
              <a:t>• Unified FastAPI REST API Server</a:t>
            </a: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  <a:latin typeface="Segoe UI"/>
              </a:defRPr>
            </a:pPr>
            <a:r>
              <a:t>• Dual-write database (Supabase Cloud + Local SQLite)</a:t>
            </a: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  <a:latin typeface="Segoe UI"/>
              </a:defRPr>
            </a:pPr>
            <a:r>
              <a:t>• Automated test suites (100% pass rates)</a:t>
            </a: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  <a:latin typeface="Segoe UI"/>
              </a:defRPr>
            </a:pPr>
            <a:r>
              <a:t>• Interactive Web Demonstrators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645920"/>
            <a:ext cx="438912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828800"/>
            <a:ext cx="4023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12121"/>
                </a:solidFill>
                <a:latin typeface="Segoe UI"/>
              </a:defRPr>
            </a:pPr>
            <a:r>
              <a:t>Business &amp; Patient Impact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377440"/>
            <a:ext cx="40233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  <a:latin typeface="Segoe UI"/>
              </a:defRPr>
            </a:pPr>
            <a:r>
              <a:t>• Empowers family caregivers</a:t>
            </a: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  <a:latin typeface="Segoe UI"/>
              </a:defRPr>
            </a:pPr>
            <a:r>
              <a:t>• Reduces patient anxiety</a:t>
            </a: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  <a:latin typeface="Segoe UI"/>
              </a:defRPr>
            </a:pPr>
            <a:r>
              <a:t>• Prevents drug-food misuse (e.g., dairy/alcohol interactions)</a:t>
            </a: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  <a:latin typeface="Segoe UI"/>
              </a:defRPr>
            </a:pPr>
            <a:r>
              <a:t>• Saves valuable doctor consult time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